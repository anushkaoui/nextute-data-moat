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(₹L)</c:v>
                </c:pt>
              </c:strCache>
            </c:strRef>
          </c:tx>
          <c:spPr>
            <a:solidFill>
              <a:srgbClr val="1D4ED8"/>
            </a:solidFill>
          </c:spPr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18.1</c:v>
                </c:pt>
                <c:pt idx="1">
                  <c:v>93.9</c:v>
                </c:pt>
                <c:pt idx="2">
                  <c:v>253.9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 (₹L)</c:v>
                </c:pt>
              </c:strCache>
            </c:strRef>
          </c:tx>
          <c:spPr>
            <a:solidFill>
              <a:srgbClr val="94A3B8"/>
            </a:solidFill>
          </c:spPr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-64.3</c:v>
                </c:pt>
                <c:pt idx="1">
                  <c:v>-31.1</c:v>
                </c:pt>
                <c:pt idx="2">
                  <c:v>44.9</c:v>
                </c:pt>
              </c:numCache>
            </c:numRef>
          </c:val>
        </c:ser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900">
          <a:solidFill>
            <a:srgbClr val="475569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owner's reality: the signals are already in the institute, but they are fragmented. The ₹36L number is an explicit illustrative calculation, not a market claim. The point is that retention is a revenue problem, not just an academic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timing is regulatory and behavioural: DPDP raises the bar for anyone touching student data, while WhatsApp makes parent communication cheap. The wedge is the data the institute already exports.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core loop. The import screen is deliberately boring: row-level quarantine, a separate commit, and a job you can audit. The demo file exercises all four failure classes.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audience through one student. The important design choice is that the teacher sees reasons and evidence, not a naked probability. Low-evidence topics are marked so a single question does not look like a verdict.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parent report is the trust surface. The design is deliberately conservative: a locked facts object, a reviewed template, and a validator that rejects numbers not in the facts. Parent links are consent-gated and expiring.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deliberately not claiming a deep-learning breakthrough. Rasch is the right measurement model for small tests; the risk model is calibrated and explainable; the rules are labelled as rules. The LLM is optional, and the retrieval plan uses a curated library.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Privacy is not a slide bolted on at the end; it is in the transaction boundary. RLS is forced, PII is separated, consent is checked in the route, and role redaction is tested. The parent is never shown a risk label.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working system, then defuse the obvious objection: the metrics are synthetic. The correct next step is a time-based pilot, not a claim that the model already predicts real dropout.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market sizing is explicitly top-down and assumption-led. The credible number is SAM, not TAM. We only need 320 institutes for ₹2.5Cr revenue; that is a focused sales problem, not a category-creation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unit economics are deliberately conservative: 65% contribution, 30-month life, 4.8x LTV/CAC. The plan reaches operational break-even around 110 institutes at the Year-1 cost base; the raise covers the peak cumulative burn of about ₹95L plus buffer.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GTM is local and referral-led. The free historical-data pilot is the wedge because it proves value before asking for a full migration. The buyer is the owner, not the teacher.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moat is not the model. It is the workflow and the trust built by being local, bilingual and consent-first. Every intervention and report makes the switching cost higher.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narrow ask and the proof point. We are not asking to build a category; we are asking to fund a controlled pilot and a repeatable local sales motion. The milestone is retention improvement, not a model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8BDF8"/>
                </a:solidFill>
                <a:latin typeface="Arial"/>
              </a:rPr>
              <a:t>CASE B · THE DATA MOAT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51206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400"/>
              </a:spcAft>
            </a:pPr>
            <a:r>
              <a:rPr sz="4200" b="1" i="0">
                <a:solidFill>
                  <a:srgbClr val="FFFFFF"/>
                </a:solidFill>
                <a:latin typeface="Arial"/>
              </a:rPr>
              <a:t>Know who is slipping — before they leave.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29000"/>
            <a:ext cx="4572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CBD5E1"/>
                </a:solidFill>
                <a:latin typeface="Arial"/>
              </a:rPr>
              <a:t>A privacy-first analytics layer for Tier-2 NEET/JEE coaching institutes.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26280"/>
            <a:ext cx="2011680" cy="292608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9028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1D4ED8"/>
                </a:solidFill>
                <a:latin typeface="Arial"/>
              </a:rPr>
              <a:t>3 institutes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52928" y="4526280"/>
            <a:ext cx="1828800" cy="292608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52928" y="4590288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1D4ED8"/>
                </a:solidFill>
                <a:latin typeface="Arial"/>
              </a:rPr>
              <a:t>1,000 students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91456" y="4526280"/>
            <a:ext cx="2011680" cy="292608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91456" y="459028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1D4ED8"/>
                </a:solidFill>
                <a:latin typeface="Arial"/>
              </a:rPr>
              <a:t>181k responses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07492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4A3B8"/>
                </a:solidFill>
                <a:latin typeface="Arial"/>
              </a:rPr>
              <a:t>Synthetic pilot · working prototype · not a concept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26364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latin typeface="Arial"/>
              </a:rPr>
              <a:t>Nextute × Finance Club IIT Patna ·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44184" y="466344"/>
            <a:ext cx="5879592" cy="59253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deck_dashboard_6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502920"/>
            <a:ext cx="580644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1D4ED8"/>
                </a:solidFill>
                <a:latin typeface="Arial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3200" b="1" i="0">
                <a:solidFill>
                  <a:srgbClr val="0F172A"/>
                </a:solidFill>
                <a:latin typeface="Arial"/>
              </a:rPr>
              <a:t>The data exists. The action arrives late.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3401568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D4ED8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95728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0F172A"/>
                </a:solidFill>
                <a:latin typeface="Arial"/>
              </a:rPr>
              <a:t>Signals are trapped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52928"/>
            <a:ext cx="28803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  <a:latin typeface="Arial"/>
              </a:rPr>
              <a:t>Attendance registers, OMR sheets, fee ledgers and WhatsApp groups do not talk to each other.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1874519"/>
            <a:ext cx="3401568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20574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D4ED8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2395728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0F172A"/>
                </a:solidFill>
                <a:latin typeface="Arial"/>
              </a:rPr>
              <a:t>Teachers see a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2852928"/>
            <a:ext cx="28803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  <a:latin typeface="Arial"/>
              </a:rPr>
              <a:t>An average mark hides the topic gap. By the time it is obvious, the student has stopped attending.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47304" y="1874519"/>
            <a:ext cx="3401568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75904" y="20574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D4ED8"/>
                </a:solidFill>
                <a:latin typeface="Arial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904" y="2395728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0F172A"/>
                </a:solidFill>
                <a:latin typeface="Arial"/>
              </a:rPr>
              <a:t>Parents see a rank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5904" y="2852928"/>
            <a:ext cx="28803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  <a:latin typeface="Arial"/>
              </a:rPr>
              <a:t>Generic updates create anxiety, not trust. Institutes have no time to personalise 400 reports.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498848"/>
            <a:ext cx="10835640" cy="123444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6908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1" i="0">
                <a:solidFill>
                  <a:srgbClr val="38BDF8"/>
                </a:solidFill>
                <a:latin typeface="Arial"/>
              </a:rPr>
              <a:t>ILLUSTRATIVE, NOT A CLAIM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983480"/>
            <a:ext cx="10149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A 400-student institute with ₹60k annual fees and 15% attrition has ₹36L of fee revenue at risk — before replacement cost.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51967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 i="0">
                <a:solidFill>
                  <a:srgbClr val="64748B"/>
                </a:solidFill>
                <a:latin typeface="Arial"/>
              </a:rPr>
              <a:t>Institute Intelligence · Case B · The Data Moat ·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519672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 i="0">
                <a:solidFill>
                  <a:srgbClr val="64748B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1D4ED8"/>
                </a:solidFill>
                <a:latin typeface="Arial"/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3200" b="1" i="0">
                <a:solidFill>
                  <a:srgbClr val="0F172A"/>
                </a:solidFill>
                <a:latin typeface="Arial"/>
              </a:rPr>
              <a:t>A trust window is opening.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51663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029968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0F172A"/>
                </a:solidFill>
                <a:latin typeface="Arial"/>
              </a:rPr>
              <a:t>DPDP Rules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487168"/>
            <a:ext cx="46177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  <a:latin typeface="Arial"/>
              </a:rPr>
              <a:t>Consent, retention and breach discipline are now board-level. Institutes need a vendor that can show its controls.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828800"/>
            <a:ext cx="51663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2029968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0F172A"/>
                </a:solidFill>
                <a:latin typeface="Arial"/>
              </a:rPr>
              <a:t>WhatsApp first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2" y="2487168"/>
            <a:ext cx="46177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  <a:latin typeface="Arial"/>
              </a:rPr>
              <a:t>Parents already live on WhatsApp. A report that arrives there beats a portal nobody opens.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977639"/>
            <a:ext cx="51663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4178807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0F172A"/>
                </a:solidFill>
                <a:latin typeface="Arial"/>
              </a:rPr>
              <a:t>Consolidation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4636007"/>
            <a:ext cx="46177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  <a:latin typeface="Arial"/>
              </a:rPr>
              <a:t>Owners are professionalising. They want retention and fee visibility, not another LMS.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977639"/>
            <a:ext cx="51663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4178807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0F172A"/>
                </a:solidFill>
                <a:latin typeface="Arial"/>
              </a:rPr>
              <a:t>No data team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4636007"/>
            <a:ext cx="46177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475569"/>
                </a:solidFill>
                <a:latin typeface="Arial"/>
              </a:rPr>
              <a:t>A 400-student institute cannot hire a data scientist. A ₹35/student layer is affordable.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51967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 i="0">
                <a:solidFill>
                  <a:srgbClr val="64748B"/>
                </a:solidFill>
                <a:latin typeface="Arial"/>
              </a:rPr>
              <a:t>Institute Intelligence · Case B · The Data Moat ·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519672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 i="0">
                <a:solidFill>
                  <a:srgbClr val="64748B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1D4ED8"/>
                </a:solidFill>
                <a:latin typeface="Arial"/>
              </a:rPr>
              <a:t>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3200" b="1" i="0">
                <a:solidFill>
                  <a:srgbClr val="0F172A"/>
                </a:solidFill>
                <a:latin typeface="Arial"/>
              </a:rPr>
              <a:t>From CSV to a conversation in minutes.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1D4ED8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21408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  <a:latin typeface="Arial"/>
              </a:rPr>
              <a:t>Import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14600"/>
            <a:ext cx="23317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050" b="0" i="0">
                <a:solidFill>
                  <a:srgbClr val="475569"/>
                </a:solidFill>
                <a:latin typeface="Arial"/>
              </a:rPr>
              <a:t>CSV or Forms export. Validate, quarantine, commit. Every row auditable.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828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1D4ED8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121408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  <a:latin typeface="Arial"/>
              </a:rPr>
              <a:t>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514600"/>
            <a:ext cx="23317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050" b="0" i="0">
                <a:solidFill>
                  <a:srgbClr val="475569"/>
                </a:solidFill>
                <a:latin typeface="Arial"/>
              </a:rPr>
              <a:t>Rasch ability and topic mastery with recency and shrinkage.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828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1D4ED8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2121408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  <a:latin typeface="Arial"/>
              </a:rPr>
              <a:t>Prioritise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2514600"/>
            <a:ext cx="23317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050" b="0" i="0">
                <a:solidFill>
                  <a:srgbClr val="475569"/>
                </a:solidFill>
                <a:latin typeface="Arial"/>
              </a:rPr>
              <a:t>Three risk targets, each with reasons — not a black box.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18288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1D4ED8"/>
                </a:solidFill>
                <a:latin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2121408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F172A"/>
                </a:solidFill>
                <a:latin typeface="Arial"/>
              </a:rPr>
              <a:t>Communicate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2514600"/>
            <a:ext cx="23317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050" b="0" i="0">
                <a:solidFill>
                  <a:srgbClr val="475569"/>
                </a:solidFill>
                <a:latin typeface="Arial"/>
              </a:rPr>
              <a:t>Intervention, study plan, EN/HI report, consented parent link.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" y="3712463"/>
            <a:ext cx="6611112" cy="24963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deck_import_7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749039"/>
            <a:ext cx="6537960" cy="242316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7498079" y="3749039"/>
            <a:ext cx="3977639" cy="2423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393192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64748B"/>
                </a:solidFill>
                <a:latin typeface="Arial"/>
              </a:rPr>
              <a:t>DEMO FILE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4251960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0F172A"/>
                </a:solidFill>
                <a:latin typeface="Arial"/>
              </a:rPr>
              <a:t>1,205 rows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4754880"/>
            <a:ext cx="3429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  <a:latin typeface="Arial"/>
              </a:rPr>
              <a:t>1,200 accepted · 4 quarantined · 1 duplicate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5440680"/>
            <a:ext cx="3429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64748B"/>
                </a:solidFill>
                <a:latin typeface="Arial"/>
              </a:rPr>
              <a:t>Quarantined rows are shown first. Commit is a separate, explicit step.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51967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 i="0">
                <a:solidFill>
                  <a:srgbClr val="64748B"/>
                </a:solidFill>
                <a:latin typeface="Arial"/>
              </a:rPr>
              <a:t>Institute Intelligence · Case B · The Data Moat ·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519672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 i="0">
                <a:solidFill>
                  <a:srgbClr val="64748B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1D4ED8"/>
                </a:solidFill>
                <a:latin typeface="Arial"/>
              </a:rPr>
              <a:t>TEACHER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3200" b="1" i="0">
                <a:solidFill>
                  <a:srgbClr val="0F172A"/>
                </a:solidFill>
                <a:latin typeface="Arial"/>
              </a:rPr>
              <a:t>One student. The next best action.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66344" y="1472184"/>
            <a:ext cx="7022592" cy="47823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eck_student_7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08760"/>
            <a:ext cx="6949440" cy="47091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26679" y="1554480"/>
            <a:ext cx="3749039" cy="46177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173736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64748B"/>
                </a:solidFill>
                <a:latin typeface="Arial"/>
              </a:rPr>
              <a:t>WHAT THE TEACHER SEES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103120"/>
            <a:ext cx="324612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 b="1">
                <a:solidFill>
                  <a:srgbClr val="1D4ED8"/>
                </a:solidFill>
                <a:latin typeface="Arial"/>
              </a:rPr>
              <a:t>• </a:t>
            </a:r>
            <a:r>
              <a:rPr sz="1150">
                <a:solidFill>
                  <a:srgbClr val="475569"/>
                </a:solidFill>
                <a:latin typeface="Arial"/>
              </a:rPr>
              <a:t>Topic mastery with low-evidence labels — no false certainty.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 b="1">
                <a:solidFill>
                  <a:srgbClr val="1D4ED8"/>
                </a:solidFill>
                <a:latin typeface="Arial"/>
              </a:rPr>
              <a:t>• </a:t>
            </a:r>
            <a:r>
              <a:rPr sz="1150">
                <a:solidFill>
                  <a:srgbClr val="475569"/>
                </a:solidFill>
                <a:latin typeface="Arial"/>
              </a:rPr>
              <a:t>Internal percentile band with an 80% interval, not a rank.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 b="1">
                <a:solidFill>
                  <a:srgbClr val="1D4ED8"/>
                </a:solidFill>
                <a:latin typeface="Arial"/>
              </a:rPr>
              <a:t>• </a:t>
            </a:r>
            <a:r>
              <a:rPr sz="1150">
                <a:solidFill>
                  <a:srgbClr val="475569"/>
                </a:solidFill>
                <a:latin typeface="Arial"/>
              </a:rPr>
              <a:t>Risk reasons in plain language: attendance, trend, mastery.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 b="1">
                <a:solidFill>
                  <a:srgbClr val="1D4ED8"/>
                </a:solidFill>
                <a:latin typeface="Arial"/>
              </a:rPr>
              <a:t>• </a:t>
            </a:r>
            <a:r>
              <a:rPr sz="1150">
                <a:solidFill>
                  <a:srgbClr val="475569"/>
                </a:solidFill>
                <a:latin typeface="Arial"/>
              </a:rPr>
              <a:t>Retrieval-grounded study plan for the three weakest topics.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 b="1">
                <a:solidFill>
                  <a:srgbClr val="1D4ED8"/>
                </a:solidFill>
                <a:latin typeface="Arial"/>
              </a:rPr>
              <a:t>• </a:t>
            </a:r>
            <a:r>
              <a:rPr sz="1150">
                <a:solidFill>
                  <a:srgbClr val="475569"/>
                </a:solidFill>
                <a:latin typeface="Arial"/>
              </a:rPr>
              <a:t>Interventions are teacher-owned and audited.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 b="1">
                <a:solidFill>
                  <a:srgbClr val="1D4ED8"/>
                </a:solidFill>
                <a:latin typeface="Arial"/>
              </a:rPr>
              <a:t>• </a:t>
            </a:r>
            <a:r>
              <a:rPr sz="1150">
                <a:solidFill>
                  <a:srgbClr val="475569"/>
                </a:solidFill>
                <a:latin typeface="Arial"/>
              </a:rPr>
              <a:t>Fee data is redacted for teachers by role.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51967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 i="0">
                <a:solidFill>
                  <a:srgbClr val="64748B"/>
                </a:solidFill>
                <a:latin typeface="Arial"/>
              </a:rPr>
              <a:t>Institute Intelligence · Case B · The Data Moat ·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519672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 i="0">
                <a:solidFill>
                  <a:srgbClr val="64748B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1D4ED8"/>
                </a:solidFill>
                <a:latin typeface="Arial"/>
              </a:rPr>
              <a:t>PARENT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3200" b="1" i="0">
                <a:solidFill>
                  <a:srgbClr val="0F172A"/>
                </a:solidFill>
                <a:latin typeface="Arial"/>
              </a:rPr>
              <a:t>A report a parent can trust.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66344" y="1472184"/>
            <a:ext cx="7296912" cy="47823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eck_report_79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08760"/>
            <a:ext cx="7223760" cy="47091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79" y="1600200"/>
            <a:ext cx="352044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181051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64748B"/>
                </a:solidFill>
                <a:latin typeface="Arial"/>
              </a:rPr>
              <a:t>GUARDRAILS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176272"/>
            <a:ext cx="297180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150" b="1">
                <a:solidFill>
                  <a:srgbClr val="1D4ED8"/>
                </a:solidFill>
                <a:latin typeface="Arial"/>
              </a:rPr>
              <a:t>• </a:t>
            </a:r>
            <a:r>
              <a:rPr sz="1150">
                <a:solidFill>
                  <a:srgbClr val="475569"/>
                </a:solidFill>
                <a:latin typeface="Arial"/>
              </a:rPr>
              <a:t>Numbers come from one locked facts object.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150" b="1">
                <a:solidFill>
                  <a:srgbClr val="1D4ED8"/>
                </a:solidFill>
                <a:latin typeface="Arial"/>
              </a:rPr>
              <a:t>• </a:t>
            </a:r>
            <a:r>
              <a:rPr sz="1150">
                <a:solidFill>
                  <a:srgbClr val="475569"/>
                </a:solidFill>
                <a:latin typeface="Arial"/>
              </a:rPr>
              <a:t>English and Hindi templates; no invented advice.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150" b="1">
                <a:solidFill>
                  <a:srgbClr val="1D4ED8"/>
                </a:solidFill>
                <a:latin typeface="Arial"/>
              </a:rPr>
              <a:t>• </a:t>
            </a:r>
            <a:r>
              <a:rPr sz="1150">
                <a:solidFill>
                  <a:srgbClr val="475569"/>
                </a:solidFill>
                <a:latin typeface="Arial"/>
              </a:rPr>
              <a:t>No risk label. No fee data. No exam-rank claim.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150" b="1">
                <a:solidFill>
                  <a:srgbClr val="1D4ED8"/>
                </a:solidFill>
                <a:latin typeface="Arial"/>
              </a:rPr>
              <a:t>• </a:t>
            </a:r>
            <a:r>
              <a:rPr sz="1150">
                <a:solidFill>
                  <a:srgbClr val="475569"/>
                </a:solidFill>
                <a:latin typeface="Arial"/>
              </a:rPr>
              <a:t>Consent is checked before the link is created.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150" b="1">
                <a:solidFill>
                  <a:srgbClr val="1D4ED8"/>
                </a:solidFill>
                <a:latin typeface="Arial"/>
              </a:rPr>
              <a:t>• </a:t>
            </a:r>
            <a:r>
              <a:rPr sz="1150">
                <a:solidFill>
                  <a:srgbClr val="475569"/>
                </a:solidFill>
                <a:latin typeface="Arial"/>
              </a:rPr>
              <a:t>90-day bearer link, hashed at rest.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53949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1D4ED8"/>
                </a:solidFill>
                <a:latin typeface="Arial"/>
              </a:rPr>
              <a:t>The LLM path is off by default.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51967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 i="0">
                <a:solidFill>
                  <a:srgbClr val="64748B"/>
                </a:solidFill>
                <a:latin typeface="Arial"/>
              </a:rPr>
              <a:t>Institute Intelligence · Case B · The Data Moat ·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519672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 i="0">
                <a:solidFill>
                  <a:srgbClr val="64748B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1D4ED8"/>
                </a:solidFill>
                <a:latin typeface="Arial"/>
              </a:rPr>
              <a:t>AI /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3200" b="1" i="0">
                <a:solidFill>
                  <a:srgbClr val="0F172A"/>
                </a:solidFill>
                <a:latin typeface="Arial"/>
              </a:rPr>
              <a:t>Boring ML where it matters.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5166360" cy="18288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96596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0F172A"/>
                </a:solidFill>
                <a:latin typeface="Arial"/>
              </a:rPr>
              <a:t>Rasch / 1PL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359152"/>
            <a:ext cx="4617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120" b="0" i="0">
                <a:solidFill>
                  <a:srgbClr val="475569"/>
                </a:solidFill>
                <a:latin typeface="Arial"/>
              </a:rPr>
              <a:t>P = logistic(θ − b). Shrinkage κ=8, 120-day half-life, 10 common anchors.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200400"/>
            <a:ext cx="4617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19" b="1" i="0">
                <a:solidFill>
                  <a:srgbClr val="1D4ED8"/>
                </a:solidFill>
                <a:latin typeface="Arial"/>
              </a:rPr>
              <a:t>Mastery, not a percentage rank.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83080"/>
            <a:ext cx="5166360" cy="18288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96596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0F172A"/>
                </a:solidFill>
                <a:latin typeface="Arial"/>
              </a:rPr>
              <a:t>Disengagement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359152"/>
            <a:ext cx="4617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120" b="0" i="0">
                <a:solidFill>
                  <a:srgbClr val="475569"/>
                </a:solidFill>
                <a:latin typeface="Arial"/>
              </a:rPr>
              <a:t>Logistic + Platt. Attendance trend, recency, score delta, mastery, fee signal.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3200400"/>
            <a:ext cx="4617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19" b="1" i="0">
                <a:solidFill>
                  <a:srgbClr val="1D4ED8"/>
                </a:solidFill>
                <a:latin typeface="Arial"/>
              </a:rPr>
              <a:t>AUC 0.92–0.99 on synthetic hold-out.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931920"/>
            <a:ext cx="5166360" cy="18288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11480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0F172A"/>
                </a:solidFill>
                <a:latin typeface="Arial"/>
              </a:rPr>
              <a:t>Rules where data is thin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507992"/>
            <a:ext cx="4617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120" b="0" i="0">
                <a:solidFill>
                  <a:srgbClr val="475569"/>
                </a:solidFill>
                <a:latin typeface="Arial"/>
              </a:rPr>
              <a:t>Falling behind and fee default are transparent rule_v1 scores.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5349240"/>
            <a:ext cx="4617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19" b="1" i="0">
                <a:solidFill>
                  <a:srgbClr val="1D4ED8"/>
                </a:solidFill>
                <a:latin typeface="Arial"/>
              </a:rPr>
              <a:t>No fake precision.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931920"/>
            <a:ext cx="5166360" cy="18288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411480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0F172A"/>
                </a:solidFill>
                <a:latin typeface="Arial"/>
              </a:rPr>
              <a:t>LLM guardrails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4507992"/>
            <a:ext cx="4617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120" b="0" i="0">
                <a:solidFill>
                  <a:srgbClr val="475569"/>
                </a:solidFill>
                <a:latin typeface="Arial"/>
              </a:rPr>
              <a:t>Template-first. Fact validator. LLM off by default. RAG-lite study plans.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5349240"/>
            <a:ext cx="4617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19" b="1" i="0">
                <a:solidFill>
                  <a:srgbClr val="1D4ED8"/>
                </a:solidFill>
                <a:latin typeface="Arial"/>
              </a:rPr>
              <a:t>No student data sent out.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51967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 i="0">
                <a:solidFill>
                  <a:srgbClr val="64748B"/>
                </a:solidFill>
                <a:latin typeface="Arial"/>
              </a:rPr>
              <a:t>Institute Intelligence · Case B · The Data Moat ·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519672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 i="0">
                <a:solidFill>
                  <a:srgbClr val="64748B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38BDF8"/>
                </a:solidFill>
                <a:latin typeface="Arial"/>
              </a:rPr>
              <a:t>ARCHITECTURE &amp; 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Arial"/>
              </a:rPr>
              <a:t>Tenant-safe by construction.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2926080" cy="7772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11095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Browser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21991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 i="0">
                <a:solidFill>
                  <a:srgbClr val="94A3B8"/>
                </a:solidFill>
                <a:latin typeface="Arial"/>
              </a:rPr>
              <a:t>owner · teacher · admin · parent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77639" y="1783080"/>
            <a:ext cx="3383280" cy="7772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60520" y="1911095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FastAPI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2221991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 i="0">
                <a:solidFill>
                  <a:srgbClr val="94A3B8"/>
                </a:solidFill>
                <a:latin typeface="Arial"/>
              </a:rPr>
              <a:t>auth · imports · analytics · reports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1783080"/>
            <a:ext cx="3794760" cy="7772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59" y="1911095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Postgres 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59" y="2221991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 i="0">
                <a:solidFill>
                  <a:srgbClr val="94A3B8"/>
                </a:solidFill>
                <a:latin typeface="Arial"/>
              </a:rPr>
              <a:t>RLS · PII side table · audit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10312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38BDF8"/>
                </a:solidFill>
                <a:latin typeface="Arial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210312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38BDF8"/>
                </a:solidFill>
                <a:latin typeface="Arial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88036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38BDF8"/>
                </a:solidFill>
                <a:latin typeface="Arial"/>
              </a:rPr>
              <a:t>TENANT RLS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118104"/>
            <a:ext cx="4983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050" b="0" i="0">
                <a:solidFill>
                  <a:srgbClr val="CBD5E1"/>
                </a:solidFill>
                <a:latin typeface="Arial"/>
              </a:rPr>
              <a:t>Forced row-level security; no tenant context returns zero rows.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88036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38BDF8"/>
                </a:solidFill>
                <a:latin typeface="Arial"/>
              </a:rPr>
              <a:t>MINIMISE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3118104"/>
            <a:ext cx="4983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050" b="0" i="0">
                <a:solidFill>
                  <a:srgbClr val="CBD5E1"/>
                </a:solidFill>
                <a:latin typeface="Arial"/>
              </a:rPr>
              <a:t>Names and phones in a separate PII table; phone values HMACed.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95935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38BDF8"/>
                </a:solidFill>
                <a:latin typeface="Arial"/>
              </a:rPr>
              <a:t>CONSENT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197096"/>
            <a:ext cx="4983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050" b="0" i="0">
                <a:solidFill>
                  <a:srgbClr val="CBD5E1"/>
                </a:solidFill>
                <a:latin typeface="Arial"/>
              </a:rPr>
              <a:t>Report, parent link and WhatsApp require parent_communication consent.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395935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38BDF8"/>
                </a:solidFill>
                <a:latin typeface="Arial"/>
              </a:rPr>
              <a:t>REDACT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4197096"/>
            <a:ext cx="4983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050" b="0" i="0">
                <a:solidFill>
                  <a:srgbClr val="CBD5E1"/>
                </a:solidFill>
                <a:latin typeface="Arial"/>
              </a:rPr>
              <a:t>Teachers never see fee amounts; parents never see risk or fees.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038344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38BDF8"/>
                </a:solidFill>
                <a:latin typeface="Arial"/>
              </a:rPr>
              <a:t>AUDIT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276088"/>
            <a:ext cx="4983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050" b="0" i="0">
                <a:solidFill>
                  <a:srgbClr val="CBD5E1"/>
                </a:solidFill>
                <a:latin typeface="Arial"/>
              </a:rPr>
              <a:t>Import, report, link, intervention and erasure events are logged.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51967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 i="0">
                <a:solidFill>
                  <a:srgbClr val="64748B"/>
                </a:solidFill>
                <a:latin typeface="Arial"/>
              </a:rPr>
              <a:t>Institute Intelligence · Case B · The Data Moat ·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519672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 i="0">
                <a:solidFill>
                  <a:srgbClr val="64748B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1D4ED8"/>
                </a:solidFill>
                <a:latin typeface="Arial"/>
              </a:rPr>
              <a:t>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3200" b="1" i="0">
                <a:solidFill>
                  <a:srgbClr val="0F172A"/>
                </a:solidFill>
                <a:latin typeface="Arial"/>
              </a:rPr>
              <a:t>Validated end to end — with honest limits.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246888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783080"/>
            <a:ext cx="54864" cy="13258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47672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1" i="0">
                <a:solidFill>
                  <a:srgbClr val="64748B"/>
                </a:solidFill>
                <a:latin typeface="Arial"/>
              </a:rPr>
              <a:t>RESPONSES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203704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0F172A"/>
                </a:solidFill>
                <a:latin typeface="Arial"/>
              </a:rPr>
              <a:t>181,201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679191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64748B"/>
                </a:solidFill>
                <a:latin typeface="Arial"/>
              </a:rPr>
              <a:t>3 institutes · 1,000 students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783080"/>
            <a:ext cx="246888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783080"/>
            <a:ext cx="54864" cy="13258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93008" y="1947672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1" i="0">
                <a:solidFill>
                  <a:srgbClr val="64748B"/>
                </a:solidFill>
                <a:latin typeface="Arial"/>
              </a:rPr>
              <a:t>TESTS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2203704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0F172A"/>
                </a:solidFill>
                <a:latin typeface="Arial"/>
              </a:rPr>
              <a:t>6 /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2679191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64748B"/>
                </a:solidFill>
                <a:latin typeface="Arial"/>
              </a:rPr>
              <a:t>pytest suite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97880" y="1783080"/>
            <a:ext cx="246888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97880" y="1783080"/>
            <a:ext cx="54864" cy="1325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8" y="1947672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1" i="0">
                <a:solidFill>
                  <a:srgbClr val="64748B"/>
                </a:solidFill>
                <a:latin typeface="Arial"/>
              </a:rPr>
              <a:t>DASHBOARD P95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9048" y="2203704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0F172A"/>
                </a:solidFill>
                <a:latin typeface="Arial"/>
              </a:rPr>
              <a:t>257 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9048" y="2679191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64748B"/>
                </a:solidFill>
                <a:latin typeface="Arial"/>
              </a:rPr>
              <a:t>100 requests · 10 workers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03920" y="1783080"/>
            <a:ext cx="301752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03920" y="1783080"/>
            <a:ext cx="54864" cy="13258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05088" y="1947672"/>
            <a:ext cx="26974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1" i="0">
                <a:solidFill>
                  <a:srgbClr val="64748B"/>
                </a:solidFill>
                <a:latin typeface="Arial"/>
              </a:rPr>
              <a:t>ANALYTICS REBUILD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05088" y="2203704"/>
            <a:ext cx="26974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0F172A"/>
                </a:solidFill>
                <a:latin typeface="Arial"/>
              </a:rPr>
              <a:t>7.7 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05088" y="2679191"/>
            <a:ext cx="26974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64748B"/>
                </a:solidFill>
                <a:latin typeface="Arial"/>
              </a:rPr>
              <a:t>181k responses · 3 institutes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352044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  <a:latin typeface="Arial"/>
              </a:rPr>
              <a:t>Disengagement AUC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35204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F172A"/>
                </a:solidFill>
                <a:latin typeface="Arial"/>
              </a:rPr>
              <a:t>0.922 – 0.992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352044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64748B"/>
                </a:solidFill>
                <a:latin typeface="Arial"/>
              </a:rPr>
              <a:t>synthetic hold-out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40690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  <a:latin typeface="Arial"/>
              </a:rPr>
              <a:t>80% band coverage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88920" y="4069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F172A"/>
                </a:solidFill>
                <a:latin typeface="Arial"/>
              </a:rPr>
              <a:t>74.3% – 90.0%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40690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64748B"/>
                </a:solidFill>
                <a:latin typeface="Arial"/>
              </a:rPr>
              <a:t>nominal 80%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46177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  <a:latin typeface="Arial"/>
              </a:rPr>
              <a:t>Percentile MAE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88920" y="46177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F172A"/>
                </a:solidFill>
                <a:latin typeface="Arial"/>
              </a:rPr>
              <a:t>8.1 – 8.5 marks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43400" y="46177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64748B"/>
                </a:solidFill>
                <a:latin typeface="Arial"/>
              </a:rPr>
              <a:t>hold-out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1663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  <a:latin typeface="Arial"/>
              </a:rPr>
              <a:t>Import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88920" y="51663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F172A"/>
                </a:solidFill>
                <a:latin typeface="Arial"/>
              </a:rPr>
              <a:t>1,200 / 1,205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51663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64748B"/>
                </a:solidFill>
                <a:latin typeface="Arial"/>
              </a:rPr>
              <a:t>4 quarantined · 1 duplicate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720840" y="3474720"/>
            <a:ext cx="4800600" cy="214884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95160" y="365760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1" i="0">
                <a:solidFill>
                  <a:srgbClr val="38BDF8"/>
                </a:solidFill>
                <a:latin typeface="Arial"/>
              </a:rPr>
              <a:t>WHAT THIS DOES NOT PROVE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95160" y="4005072"/>
            <a:ext cx="416052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Arial"/>
              </a:rPr>
              <a:t>The data is synthetic and the withdrawal signal is designed. AUC 1.0 is not a real-world claim. The next test is temporal, on consented data, with a pre-registered success bar.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" y="59893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475569"/>
                </a:solidFill>
                <a:latin typeface="Arial"/>
              </a:rPr>
              <a:t>Also validated: tenant isolation, consent gate, teacher fee redaction, parent no-risk view, WhatsApp entry, erasure request.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651967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 i="0">
                <a:solidFill>
                  <a:srgbClr val="64748B"/>
                </a:solidFill>
                <a:latin typeface="Arial"/>
              </a:rPr>
              <a:t>Institute Intelligence · Case B · The Data Moat ·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81360" y="6519672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 i="0">
                <a:solidFill>
                  <a:srgbClr val="64748B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1D4ED8"/>
                </a:solidFill>
                <a:latin typeface="Arial"/>
              </a:rP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3200" b="1" i="0">
                <a:solidFill>
                  <a:srgbClr val="0F172A"/>
                </a:solidFill>
                <a:latin typeface="Arial"/>
              </a:rPr>
              <a:t>A focused wedge, not a horizontal LMS.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10789920" cy="77724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7510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1D4ED8"/>
                </a:solidFill>
                <a:latin typeface="Arial"/>
              </a:rPr>
              <a:t>TAM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0F172A"/>
                </a:solidFill>
                <a:latin typeface="Arial"/>
              </a:rPr>
              <a:t>~1,20,000 coaching institutes in India (assumption)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34440" y="2788920"/>
            <a:ext cx="9692640" cy="777240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93522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1D4ED8"/>
                </a:solidFill>
                <a:latin typeface="Arial"/>
              </a:rPr>
              <a:t>SAM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154680"/>
            <a:ext cx="8503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0F172A"/>
                </a:solidFill>
                <a:latin typeface="Arial"/>
              </a:rPr>
              <a:t>~12,000 NEET/JEE institutes in Tier-2/3 with 150+ students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83080" y="3749039"/>
            <a:ext cx="8595360" cy="777240"/>
          </a:xfrm>
          <a:prstGeom prst="roundRect">
            <a:avLst>
              <a:gd name="adj" fmla="val 6000"/>
            </a:avLst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389534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1D4ED8"/>
                </a:solidFill>
                <a:latin typeface="Arial"/>
              </a:rPr>
              <a:t>SOM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411480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0F172A"/>
                </a:solidFill>
                <a:latin typeface="Arial"/>
              </a:rPr>
              <a:t>320 institutes by Year 3 = 2.7% of SAM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892040"/>
            <a:ext cx="5303520" cy="13258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0474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64748B"/>
                </a:solidFill>
                <a:latin typeface="Arial"/>
              </a:rPr>
              <a:t>STARTER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30352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0F172A"/>
                </a:solidFill>
                <a:latin typeface="Arial"/>
              </a:rPr>
              <a:t>₹35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541324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/ student / month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5120640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475569"/>
                </a:solidFill>
                <a:latin typeface="Arial"/>
              </a:rPr>
              <a:t>150-student floor</a:t>
            </a:r>
            <a:br/>
            <a:r>
              <a:rPr sz="1050" b="0" i="0">
                <a:solidFill>
                  <a:srgbClr val="475569"/>
                </a:solidFill>
                <a:latin typeface="Arial"/>
              </a:rPr>
              <a:t>10 billed months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892040"/>
            <a:ext cx="5303520" cy="13258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50474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64748B"/>
                </a:solidFill>
                <a:latin typeface="Arial"/>
              </a:rPr>
              <a:t>GROWTH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530352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 i="0">
                <a:solidFill>
                  <a:srgbClr val="0F172A"/>
                </a:solidFill>
                <a:latin typeface="Arial"/>
              </a:rPr>
              <a:t>₹55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541324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4748B"/>
                </a:solidFill>
                <a:latin typeface="Arial"/>
              </a:rPr>
              <a:t>/ student / month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512064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475569"/>
                </a:solidFill>
                <a:latin typeface="Arial"/>
              </a:rPr>
              <a:t>Benchmarks, multi-branch</a:t>
            </a:r>
            <a:br/>
            <a:r>
              <a:rPr sz="1050" b="0" i="0">
                <a:solidFill>
                  <a:srgbClr val="475569"/>
                </a:solidFill>
                <a:latin typeface="Arial"/>
              </a:rPr>
              <a:t>reports, priority support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51967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 i="0">
                <a:solidFill>
                  <a:srgbClr val="64748B"/>
                </a:solidFill>
                <a:latin typeface="Arial"/>
              </a:rPr>
              <a:t>Institute Intelligence · Case B · The Data Moat ·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519672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 i="0">
                <a:solidFill>
                  <a:srgbClr val="64748B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1D4ED8"/>
                </a:solidFill>
                <a:latin typeface="Arial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3200" b="1" i="0">
                <a:solidFill>
                  <a:srgbClr val="0F172A"/>
                </a:solidFill>
                <a:latin typeface="Arial"/>
              </a:rPr>
              <a:t>Unit economics that can fund the pilot.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242316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783080"/>
            <a:ext cx="54864" cy="12344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47672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1" i="0">
                <a:solidFill>
                  <a:srgbClr val="64748B"/>
                </a:solidFill>
                <a:latin typeface="Arial"/>
              </a:rPr>
              <a:t>GROWTH ACV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203704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0F172A"/>
                </a:solidFill>
                <a:latin typeface="Arial"/>
              </a:rPr>
              <a:t>₹1.93L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679191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64748B"/>
                </a:solidFill>
                <a:latin typeface="Arial"/>
              </a:rPr>
              <a:t>350 students · ₹55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783080"/>
            <a:ext cx="242316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1783080"/>
            <a:ext cx="54864" cy="1234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1947672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1" i="0">
                <a:solidFill>
                  <a:srgbClr val="64748B"/>
                </a:solidFill>
                <a:latin typeface="Arial"/>
              </a:rPr>
              <a:t>CONTRIBUTION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2203704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0F172A"/>
                </a:solidFill>
                <a:latin typeface="Arial"/>
              </a:rPr>
              <a:t>65%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2679191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64748B"/>
                </a:solidFill>
                <a:latin typeface="Arial"/>
              </a:rPr>
              <a:t>₹1.26L per institute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06440" y="1783080"/>
            <a:ext cx="242316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06440" y="1783080"/>
            <a:ext cx="54864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07607" y="1947672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1" i="0">
                <a:solidFill>
                  <a:srgbClr val="64748B"/>
                </a:solidFill>
                <a:latin typeface="Arial"/>
              </a:rPr>
              <a:t>CAC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07607" y="2203704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0F172A"/>
                </a:solidFill>
                <a:latin typeface="Arial"/>
              </a:rPr>
              <a:t>₹38k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07607" y="2679191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64748B"/>
                </a:solidFill>
                <a:latin typeface="Arial"/>
              </a:rPr>
              <a:t>founder-led sales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66760" y="1783080"/>
            <a:ext cx="31546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66760" y="1783080"/>
            <a:ext cx="54864" cy="12344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67928" y="1947672"/>
            <a:ext cx="2834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1" i="0">
                <a:solidFill>
                  <a:srgbClr val="64748B"/>
                </a:solidFill>
                <a:latin typeface="Arial"/>
              </a:rPr>
              <a:t>PAYBACK / LTV:CAC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67928" y="2203704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0F172A"/>
                </a:solidFill>
                <a:latin typeface="Arial"/>
              </a:rPr>
              <a:t>3.6 mo · 4.8x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67928" y="2679191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64748B"/>
                </a:solidFill>
                <a:latin typeface="Arial"/>
              </a:rPr>
              <a:t>30-month conservative life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685800" y="3246120"/>
          <a:ext cx="6720840" cy="2880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Rounded Rectangle 25"/>
          <p:cNvSpPr/>
          <p:nvPr/>
        </p:nvSpPr>
        <p:spPr>
          <a:xfrm>
            <a:off x="7726679" y="3246120"/>
            <a:ext cx="379476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79" y="342900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64748B"/>
                </a:solidFill>
                <a:latin typeface="Arial"/>
              </a:rPr>
              <a:t>3-YEAR PLAN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3767328"/>
            <a:ext cx="32918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50" b="1">
                <a:solidFill>
                  <a:srgbClr val="1D4ED8"/>
                </a:solidFill>
                <a:latin typeface="Arial"/>
              </a:rPr>
              <a:t>• </a:t>
            </a:r>
            <a:r>
              <a:rPr sz="1050">
                <a:solidFill>
                  <a:srgbClr val="475569"/>
                </a:solidFill>
                <a:latin typeface="Arial"/>
              </a:rPr>
              <a:t>40 institutes / 9,500 students by Year 1.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50" b="1">
                <a:solidFill>
                  <a:srgbClr val="1D4ED8"/>
                </a:solidFill>
                <a:latin typeface="Arial"/>
              </a:rPr>
              <a:t>• </a:t>
            </a:r>
            <a:r>
              <a:rPr sz="1050">
                <a:solidFill>
                  <a:srgbClr val="475569"/>
                </a:solidFill>
                <a:latin typeface="Arial"/>
              </a:rPr>
              <a:t>140 institutes / 34,300 students by Year 2.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50" b="1">
                <a:solidFill>
                  <a:srgbClr val="1D4ED8"/>
                </a:solidFill>
                <a:latin typeface="Arial"/>
              </a:rPr>
              <a:t>• </a:t>
            </a:r>
            <a:r>
              <a:rPr sz="1050">
                <a:solidFill>
                  <a:srgbClr val="475569"/>
                </a:solidFill>
                <a:latin typeface="Arial"/>
              </a:rPr>
              <a:t>320 institutes / 80,800 students by Year 3.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50" b="1">
                <a:solidFill>
                  <a:srgbClr val="1D4ED8"/>
                </a:solidFill>
                <a:latin typeface="Arial"/>
              </a:rPr>
              <a:t>• </a:t>
            </a:r>
            <a:r>
              <a:rPr sz="1050">
                <a:solidFill>
                  <a:srgbClr val="475569"/>
                </a:solidFill>
                <a:latin typeface="Arial"/>
              </a:rPr>
              <a:t>Break-even ~110 institutes at Year-1 cost base.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562356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1" i="0">
                <a:solidFill>
                  <a:srgbClr val="1D4ED8"/>
                </a:solidFill>
                <a:latin typeface="Arial"/>
              </a:rPr>
              <a:t>₹1.0Cr ask covers peak burn with buffer.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51967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 i="0">
                <a:solidFill>
                  <a:srgbClr val="64748B"/>
                </a:solidFill>
                <a:latin typeface="Arial"/>
              </a:rPr>
              <a:t>Institute Intelligence · Case B · The Data Moat ·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519672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 i="0">
                <a:solidFill>
                  <a:srgbClr val="64748B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1D4ED8"/>
                </a:solidFill>
                <a:latin typeface="Arial"/>
              </a:rPr>
              <a:t>GO TO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3200" b="1" i="0">
                <a:solidFill>
                  <a:srgbClr val="0F172A"/>
                </a:solidFill>
                <a:latin typeface="Arial"/>
              </a:rPr>
              <a:t>Own Patna, then the Hindi-belt Tier-2.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383280" cy="25603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1D4ED8"/>
                </a:solidFill>
                <a:latin typeface="Arial"/>
              </a:rPr>
              <a:t>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  <a:latin typeface="Arial"/>
              </a:rPr>
              <a:t>10 design partners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71800"/>
            <a:ext cx="2880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080" b="0" i="0">
                <a:solidFill>
                  <a:srgbClr val="475569"/>
                </a:solidFill>
                <a:latin typeface="Arial"/>
              </a:rPr>
              <a:t>Patna. Historical CSV, 8-week pilot. Weekly teacher review. Success bar: 70% of flags actionable.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1828800"/>
            <a:ext cx="3383280" cy="25603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201168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1D4ED8"/>
                </a:solidFill>
                <a:latin typeface="Arial"/>
              </a:rPr>
              <a:t>0–6 MONTHS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233172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  <a:latin typeface="Arial"/>
              </a:rPr>
              <a:t>40 paying institutes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2971800"/>
            <a:ext cx="2880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080" b="0" i="0">
                <a:solidFill>
                  <a:srgbClr val="475569"/>
                </a:solidFill>
                <a:latin typeface="Arial"/>
              </a:rPr>
              <a:t>Patna + Gaya + Muzaffarpur. Owner referrals, local associations, WhatsApp groups.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47304" y="1828800"/>
            <a:ext cx="3383280" cy="25603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75904" y="201168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1D4ED8"/>
                </a:solidFill>
                <a:latin typeface="Arial"/>
              </a:rPr>
              <a:t>6–18 MONTHS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904" y="233172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  <a:latin typeface="Arial"/>
              </a:rPr>
              <a:t>110+ institutes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5904" y="2971800"/>
            <a:ext cx="2880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080" b="0" i="0">
                <a:solidFill>
                  <a:srgbClr val="475569"/>
                </a:solidFill>
                <a:latin typeface="Arial"/>
              </a:rPr>
              <a:t>UP, Jharkhand, West Bengal Tier-2. Distributor partnerships. Hindi-first onboarding.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663440"/>
            <a:ext cx="10835640" cy="141732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8463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38BDF8"/>
                </a:solidFill>
                <a:latin typeface="Arial"/>
              </a:rPr>
              <a:t>SALES MOTION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138928"/>
            <a:ext cx="10058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Land with a free historical-data pilot → show 3 parent reports in week 1 → convert to annual pre-paid. Sales cycle target: 4–6 weeks.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51967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 i="0">
                <a:solidFill>
                  <a:srgbClr val="64748B"/>
                </a:solidFill>
                <a:latin typeface="Arial"/>
              </a:rPr>
              <a:t>Institute Intelligence · Case B · The Data Moat ·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519672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 i="0">
                <a:solidFill>
                  <a:srgbClr val="64748B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1D4ED8"/>
                </a:solidFill>
                <a:latin typeface="Arial"/>
              </a:rPr>
              <a:t>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3200" b="1" i="0">
                <a:solidFill>
                  <a:srgbClr val="0F172A"/>
                </a:solidFill>
                <a:latin typeface="Arial"/>
              </a:rPr>
              <a:t>Why this compounds.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1D4ED8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82880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Arial"/>
              </a:rPr>
              <a:t>Workflow, not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139696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050" b="0" i="0">
                <a:solidFill>
                  <a:srgbClr val="475569"/>
                </a:solidFill>
                <a:latin typeface="Arial"/>
              </a:rPr>
              <a:t>Attendance, tests, fees and parent communication in one loop.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1D4ED8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83464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Arial"/>
              </a:rPr>
              <a:t>Local trust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145536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050" b="0" i="0">
                <a:solidFill>
                  <a:srgbClr val="475569"/>
                </a:solidFill>
                <a:latin typeface="Arial"/>
              </a:rPr>
              <a:t>Patna-first, Hindi-first, owner-led onboarding.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048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1D4ED8"/>
                </a:solidFill>
                <a:latin typeface="Arial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84048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Arial"/>
              </a:rPr>
              <a:t>Switching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151376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050" b="0" i="0">
                <a:solidFill>
                  <a:srgbClr val="475569"/>
                </a:solidFill>
                <a:latin typeface="Arial"/>
              </a:rPr>
              <a:t>Historical mastery, model versions and intervention history live here.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4632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1D4ED8"/>
                </a:solidFill>
                <a:latin typeface="Arial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84632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latin typeface="Arial"/>
              </a:rPr>
              <a:t>Consented network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157216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050" b="0" i="0">
                <a:solidFill>
                  <a:srgbClr val="475569"/>
                </a:solidFill>
                <a:latin typeface="Arial"/>
              </a:rPr>
              <a:t>Aggregate benchmarks only with explicit consent.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06440" y="1828800"/>
            <a:ext cx="566928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0760" y="20116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64748B"/>
                </a:solidFill>
                <a:latin typeface="Arial"/>
              </a:rPr>
              <a:t>WHAT WE ARE / ARE NOT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239572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6A34A"/>
                </a:solidFill>
                <a:latin typeface="Arial"/>
              </a:rPr>
              <a:t>We 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269748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475569"/>
                </a:solidFill>
                <a:latin typeface="Arial"/>
              </a:rPr>
              <a:t>The retention and parent-trust layer on top of the institute's existing tests.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36576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DC2626"/>
                </a:solidFill>
                <a:latin typeface="Arial"/>
              </a:rPr>
              <a:t>We are not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3959352"/>
            <a:ext cx="49377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475569"/>
                </a:solidFill>
                <a:latin typeface="Arial"/>
              </a:rPr>
              <a:t>An LMS, a content marketplace, a rank predictor, or a student-facing chatbot. Those are integrations or later products.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51967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 i="0">
                <a:solidFill>
                  <a:srgbClr val="64748B"/>
                </a:solidFill>
                <a:latin typeface="Arial"/>
              </a:rPr>
              <a:t>Institute Intelligence · Case B · The Data Moat ·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519672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 i="0">
                <a:solidFill>
                  <a:srgbClr val="64748B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38BDF8"/>
                </a:solidFill>
                <a:latin typeface="Arial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Arial"/>
              </a:rPr>
              <a:t>₹1.0 crore to prove the loop.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5669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0" i="0">
                <a:solidFill>
                  <a:srgbClr val="CBD5E1"/>
                </a:solidFill>
                <a:latin typeface="Arial"/>
              </a:rPr>
              <a:t>18 months. 10 design partners. 110+ institutes. One proof that retention improves.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146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Product &amp; engineering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2560320"/>
            <a:ext cx="4023360" cy="2011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66160" y="2560320"/>
            <a:ext cx="4023360" cy="20116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25146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94A3B8"/>
                </a:solidFill>
                <a:latin typeface="Arial"/>
              </a:rPr>
              <a:t>35%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815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Pilots &amp; onboarding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3127248"/>
            <a:ext cx="4023360" cy="2011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3127248"/>
            <a:ext cx="2299062" cy="20116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79" y="308152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94A3B8"/>
                </a:solidFill>
                <a:latin typeface="Arial"/>
              </a:rPr>
              <a:t>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64845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Sales &amp; channel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3694176"/>
            <a:ext cx="4023360" cy="2011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66160" y="3694176"/>
            <a:ext cx="2299062" cy="201168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79" y="364845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94A3B8"/>
                </a:solidFill>
                <a:latin typeface="Arial"/>
              </a:rPr>
              <a:t>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15383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Content &amp; compliance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6160" y="4261103"/>
            <a:ext cx="4023360" cy="2011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66160" y="4261103"/>
            <a:ext cx="1724297" cy="201168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26679" y="4215383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94A3B8"/>
                </a:solidFill>
                <a:latin typeface="Arial"/>
              </a:rPr>
              <a:t>15%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78231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Working capital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66160" y="4828032"/>
            <a:ext cx="4023360" cy="20116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566160" y="4828032"/>
            <a:ext cx="1149531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26679" y="478231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94A3B8"/>
                </a:solidFill>
                <a:latin typeface="Arial"/>
              </a:rPr>
              <a:t>10%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49640" y="1874519"/>
            <a:ext cx="2971800" cy="324612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2084831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38BDF8"/>
                </a:solidFill>
                <a:latin typeface="Arial"/>
              </a:rPr>
              <a:t>MILESTONES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2423160"/>
            <a:ext cx="251460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50" b="1">
                <a:solidFill>
                  <a:srgbClr val="1D4ED8"/>
                </a:solidFill>
                <a:latin typeface="Arial"/>
              </a:rPr>
              <a:t>• </a:t>
            </a:r>
            <a:r>
              <a:rPr sz="1050">
                <a:solidFill>
                  <a:srgbClr val="CBD5E1"/>
                </a:solidFill>
                <a:latin typeface="Arial"/>
              </a:rPr>
              <a:t>10 paid pilots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50" b="1">
                <a:solidFill>
                  <a:srgbClr val="1D4ED8"/>
                </a:solidFill>
                <a:latin typeface="Arial"/>
              </a:rPr>
              <a:t>• </a:t>
            </a:r>
            <a:r>
              <a:rPr sz="1050">
                <a:solidFill>
                  <a:srgbClr val="CBD5E1"/>
                </a:solidFill>
                <a:latin typeface="Arial"/>
              </a:rPr>
              <a:t>110 break-even institutes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50" b="1">
                <a:solidFill>
                  <a:srgbClr val="1D4ED8"/>
                </a:solidFill>
                <a:latin typeface="Arial"/>
              </a:rPr>
              <a:t>• </a:t>
            </a:r>
            <a:r>
              <a:rPr sz="1050">
                <a:solidFill>
                  <a:srgbClr val="CBD5E1"/>
                </a:solidFill>
                <a:latin typeface="Arial"/>
              </a:rPr>
              <a:t>25,000 students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50" b="1">
                <a:solidFill>
                  <a:srgbClr val="1D4ED8"/>
                </a:solidFill>
                <a:latin typeface="Arial"/>
              </a:rPr>
              <a:t>• </a:t>
            </a:r>
            <a:r>
              <a:rPr sz="1050">
                <a:solidFill>
                  <a:srgbClr val="CBD5E1"/>
                </a:solidFill>
                <a:latin typeface="Arial"/>
              </a:rPr>
              <a:t>2 states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50" b="1">
                <a:solidFill>
                  <a:srgbClr val="1D4ED8"/>
                </a:solidFill>
                <a:latin typeface="Arial"/>
              </a:rPr>
              <a:t>• </a:t>
            </a:r>
            <a:r>
              <a:rPr sz="1050">
                <a:solidFill>
                  <a:srgbClr val="CBD5E1"/>
                </a:solidFill>
                <a:latin typeface="Arial"/>
              </a:rPr>
              <a:t>Audited DPDP controls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94360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Start with 10 institutes. Prove retention. Then own the Tier-2 data layer.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51967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 i="0">
                <a:solidFill>
                  <a:srgbClr val="64748B"/>
                </a:solidFill>
                <a:latin typeface="Arial"/>
              </a:rPr>
              <a:t>Institute Intelligence · Case B · The Data Moat ·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519672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0" i="0">
                <a:solidFill>
                  <a:srgbClr val="64748B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